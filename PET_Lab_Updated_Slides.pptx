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Approach (Updated v46)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Sequence in. Ranked mutation candidates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577840" cy="1874519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02920" cy="187451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618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Curate Training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16,963 real wet-lab mutation measurements
from FireProtDB and ThermoMutDB.
No synthetic data. Reverse-mutation augmentation applied.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77840" cy="1874519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02920" cy="187451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830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2618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Engineer 144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7276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mutation → 144-number vector:
physicochemical deltas, ESM-2 PCA-32,
AlphaFold pLDDT, physics (DH+Born), ESM-1v.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83280"/>
            <a:ext cx="5577840" cy="1874519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38328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83280"/>
            <a:ext cx="502920" cy="187451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776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5643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Train 8-Model 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6732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GBM, XGBoost, LightGBM, CatBoost, HistGBM,
MLP, RandomForest, ExtraTrees —
Optuna-tuned, stacked with meta-classifier.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5577840" cy="1874519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38328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383280"/>
            <a:ext cx="502920" cy="187451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9776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5643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Apply Physics Corrections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6732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Debye-Hückel for ionic strength.
Born solvation for burial energy.
Hill equation for cutinase pH response.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32120"/>
            <a:ext cx="5577840" cy="1874519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53212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532120"/>
            <a:ext cx="502920" cy="187451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126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052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Rank &amp; 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1616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Score all single-point mutations, combine
top candidates into multi-mutants,
deliver via web app in ~3 seconds.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Training Data (Updated v46)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Only real wet-lab measurements — no synthetic or computationally generated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577840" cy="320040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A0"/>
                </a:solidFill>
              </a:rPr>
              <a:t>FireProtDB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3,438 raw  →  6,796 after reverse-mutation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Single-point substitutions across many protein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Exact assay conditions recorded per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797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ΔΔG values from calorimetry and CD spectroscopy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638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86.1% coverage with real RSA / secondary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577840" cy="320040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5778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688"/>
                </a:solidFill>
              </a:rPr>
              <a:t>ThermoMutDB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27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8,801 raw  →  10,167 after reverse-mutation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Spans 249 protein families — broad phylogenetic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95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Temperature shift (ΔTm) available per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797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6,567 ΔTm records used for separate ΔTm regressor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638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→  Enables generalisation beyond PET-active enzymes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17720"/>
            <a:ext cx="11521440" cy="16002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81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A0"/>
                </a:solidFill>
              </a:rPr>
              <a:t>Class Balance  —  After Deduplication + Augmentation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10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Near-perfect split — no class weighting needed.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49240"/>
            <a:ext cx="5623560" cy="54864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76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Stabilising  49.3%  (8,367 mutations)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5349240"/>
            <a:ext cx="5577840" cy="5486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3766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Destabilising  50.7%  (8,596 mutations)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Total training set: 16,963 mutations  |  S669 held-out test: 669 mutations (never seen during training)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Feature Engineering (Updated — 144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Every mutation is encoded as a 144-number vector.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8346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527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Physicochemical Deltas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12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9280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Hydrophobicity · Volume · Charge
Helix &amp; sheet propensity · BLOSUM62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4" y="114300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55264" y="1143000"/>
            <a:ext cx="28346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2527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Structural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Real RSA + SS  +  Burial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189280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Actual RSA/secondary structure from PDB
(86.1% coverage). Burial depth per residue.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14300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2834640" cy="4572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527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6E"/>
                </a:solidFill>
              </a:rPr>
              <a:t>Assay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4 features per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89280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Temperature · pH · Ionic strength
Ca²⁺ concentration — matches each experiment exactly.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114300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17152" y="1143000"/>
            <a:ext cx="28346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2527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ESM-2 Language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32 features (PCA)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89280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Meta AI 150M-param protein language model.
PCA-32 applied to 640-dim embeddings.
92.6% training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4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749040"/>
            <a:ext cx="28346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58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AlphaFold pLDDT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3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9884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Per-residue confidence scores from AlphaFold.
WT · mutant · delta pLDDT.
92.9% training coverage.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55264" y="374904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55264" y="3749040"/>
            <a:ext cx="2834640" cy="4572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6704" y="3858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6E"/>
                </a:solidFill>
              </a:rPr>
              <a:t>Physics (DH + Born)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6704" y="4206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~30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4" y="449884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Debye-Hückel electrostatics + Born solvation
energy per residue position.
79.6% training coverage.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374904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3749040"/>
            <a:ext cx="28346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3858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ESM-1v Evolutionary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206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5-model ensemble avg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49884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Zero-shot evolutionary fitness score.
5-model ensemble from Meta AI.
44.1% training coverage.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3749040"/>
            <a:ext cx="283464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3749040"/>
            <a:ext cx="28346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2" y="3858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Extended Biochemistry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206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varies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449884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MW delta · H-bond potential · pKa shift
Aliphatic index · Disorder propensity · Cys distance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Model — 8-Model Stacked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Eight independently tuned regressors → wide stacking → meta-classifier.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81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sklearn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Optuna 50-trial tuned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581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DMLC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v26 pre-tuned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04872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96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843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Microsoft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118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v26 pre-tuned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04872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496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CatBoost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843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Yandex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118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v24 pre-tuned params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66744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7581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HistGradientBoosting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41056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sklearn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379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Optuna 50-trial tuned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666744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37581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MLP Neural 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8" y="41056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sklearn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4379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512-256-128-64, early stop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28616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5020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RandomForest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5367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sklearn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641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Optuna 50-trial tuned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928616"/>
            <a:ext cx="2743200" cy="11430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5020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ExtraTrees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5367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A0"/>
                </a:solidFill>
              </a:rPr>
              <a:t>sklearn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848" y="5641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Optuna 50-trial tuned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A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1143000"/>
            <a:ext cx="5212080" cy="25603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1143000"/>
            <a:ext cx="521208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1252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A0"/>
                </a:solidFill>
              </a:rPr>
              <a:t>Meta-Classifier (Wide Stacking)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6 classifier OOF probabilities (XGB_clf, LGBM_clf, CB_clf,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9751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RF_clf, XGB_opt, LGBM_opt)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258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8 regressor OOF predictions (all 8 models)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542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Top 30 mutual-information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2825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45 degree-2 polynomial interactions (top-10 MI features)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Total stacking matrix: 87 columns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392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Winner: Logistic Regression (C=100) — CV Acc 79.56%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840480"/>
            <a:ext cx="5212080" cy="137160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7024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10-fold GroupKFold (protein-pair constrained) — prevents data leakage
5-fold GroupKFold for stacking meta-classifier
100-trial Optuna for XGB_opt / LGBM_opt classifiers (AUC objective)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(v46)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What the model actually achieved.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49039" cy="169164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A0"/>
                </a:solidFill>
              </a:rPr>
              <a:t>79.54%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031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CV Accuracy
(10-fold GroupKFold)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143000"/>
            <a:ext cx="3749039" cy="169164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23444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A0"/>
                </a:solidFill>
              </a:rPr>
              <a:t>r = 0.752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1031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Pearson Correlation
(predicted vs. measured ΔΔG)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18" y="1143000"/>
            <a:ext cx="3749039" cy="169164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8" y="123444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A0"/>
                </a:solidFill>
              </a:rPr>
              <a:t>68.16%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8" y="21031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S669 Test Accuracy
(669 unseen mutations)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17520"/>
            <a:ext cx="5577840" cy="352044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906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S669 Independent Test — Confusion Matrix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1691640" cy="621792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A0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3520440"/>
            <a:ext cx="1691640" cy="621792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36118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A0"/>
                </a:solidFill>
              </a:rPr>
              <a:t>Predicted DESTAB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520440"/>
            <a:ext cx="1691640" cy="621792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36118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A0"/>
                </a:solidFill>
              </a:rPr>
              <a:t>Predicted STAB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78808"/>
            <a:ext cx="1691640" cy="621792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702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A0"/>
                </a:solidFill>
              </a:rPr>
              <a:t>Actual DESTAB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178808"/>
            <a:ext cx="1691640" cy="62179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42702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TN = 394 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178808"/>
            <a:ext cx="1691640" cy="621792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42702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FP = 107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37176"/>
            <a:ext cx="1691640" cy="621792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28616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A0"/>
                </a:solidFill>
              </a:rPr>
              <a:t>Actual STAB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837176"/>
            <a:ext cx="1691640" cy="621792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4928616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FN = 106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837176"/>
            <a:ext cx="1691640" cy="62179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40" y="4928616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TP = 62 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C784"/>
                </a:solidFill>
              </a:rPr>
              <a:t>Specificity (destab recall):  78.6%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7373"/>
                </a:solidFill>
              </a:rPr>
              <a:t>Stabilising recall:  36.9%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26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A0"/>
                </a:solidFill>
              </a:rPr>
              <a:t>Overall accuracy:  68.16%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79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7373"/>
                </a:solidFill>
              </a:rPr>
              <a:t>AUC (meta-clf score):  0.5334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017520"/>
            <a:ext cx="5577840" cy="352044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0906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Per-Model CV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ExtraTrees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78.42%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8221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XGBoost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822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77.35%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123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RandomForest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123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77.14%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LightGBM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425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76.89%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727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CatBoost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727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76.10%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HistGBM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75.59%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330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GradientBoosting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330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75.15%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MLP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632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 73.22%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934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ENSEMBLE (avg)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59344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Acc 77.66%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6236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0"/>
                </a:solidFill>
              </a:rPr>
              <a:t>★ Stacked (final)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6236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A0"/>
                </a:solidFill>
              </a:rPr>
              <a:t>Acc 79.54%  ← best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Physics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All biophysical equations embedded as features and post-inference corrections.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146304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1  Debye-Hückel  —  Electrostatic Screening by Ionic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F3E8"/>
                </a:solidFill>
              </a:rPr>
              <a:t>κ  =  √( 2 N_A e² I / (ε₀ ε_r k_B T)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5727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F3E8"/>
                </a:solidFill>
              </a:rPr>
              <a:t>φ_DH(r)  =  (z e / 4π ε₀ ε_r)  ×  exp(−κ r) /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κ = inverse Debye length  |  I = ionic strength (M)  |  ε_r = relative permittivity  |  z = residue charge  |  r = distance (Å)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Used to calculate how strongly two charged residues interact, given the salt concentration of the assay.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24912"/>
            <a:ext cx="11521440" cy="14173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724912"/>
            <a:ext cx="115214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2  Born Solvation  —  Energy Cost of Burying / Exposing a 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F3E8"/>
                </a:solidFill>
              </a:rPr>
              <a:t>ΔG_Born  =  − (z² e²) / (8π ε₀ R)  ×  ( 1/ε_water − 1/ε_protein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R = effective ion radius  |  ε_water ≈ 80  |  ε_protein ≈ 4  |  z = charge of residue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947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If a mutation moves a charged residue from surface (water, ε=80) to buried (protein, ε=4), the energy penalty is large and destabilising.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51960"/>
            <a:ext cx="5577840" cy="224028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5577840" cy="4572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6E"/>
                </a:solidFill>
              </a:rPr>
              <a:t>3  Hill Equation  —  pH Activity Correction (Cutinase family)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F3E8"/>
                </a:solidFill>
              </a:rPr>
              <a:t>f(pH)  =  [H⁺]ⁿ / ( K_a^n  +  [H⁺]ⁿ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n = Hill coefficient (cooperativity)
K_a = half-saturation pH constant
[H⁺] = 10^(−pH)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5099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Applied post-inference to ΔΔG scores when the input enzyme
is a cutinase-type PET hydrolase to prevent overestimating
stability at extreme pH.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251960"/>
            <a:ext cx="5577840" cy="224028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251960"/>
            <a:ext cx="557784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15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4  ΔΔG Sign Convention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09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F3E8"/>
                </a:solidFill>
              </a:rPr>
              <a:t>ΔΔG  =  ΔG_mutant  −  ΔG_wild-type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06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ΔΔG &lt; 0  →  mutant is MORE stable (stabilising)  ✓
ΔΔG &gt; 0  →  mutant is LESS stable (destabilising)  ✗
ΔΔG = 0  →  no change in stability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833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Threshold used: −0.093 kcal/mol (Youden-optimal from CV)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7772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Honest Assessment (v46)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4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A0"/>
                </a:solidFill>
              </a:rPr>
              <a:t>What 79.54% CV accuracy and 68.16% S669 accuracy really mean — and the road ahead.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71500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15000" cy="4572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7373"/>
                </a:solidFill>
              </a:rPr>
              <a:t>S669 Stabilising Recall: 36.9%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Of 168 true stabilising mutations, the model only caught 62.
The model is conservative — it would rather miss a stabilising mutation
than falsely label a destabilising one as good.
→ Fix: adding ProDDG S2648 (2,648 mutations, 77% stabilising) in next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71500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5715000" cy="4572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7373"/>
                </a:solidFill>
              </a:rPr>
              <a:t>CV vs S669 Generalisation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CV accuracy 79.54% vs S669 68.16% — an 11 pp drop.
S669 contains protein families the model has not seen.
This is the honest cost of generalising to novel enzyme families.
→ More diverse training data (ProDDG) is the primary fix.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571500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715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Additivity Assumption for Multi-Mutants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Multi-mutant ΔΔG = sum of individual scores.
This breaks down when mutations are within ~5 Å — epistatic
(cooperative) effects between neighbouring residues are not captured.
→ Nearby pairs are flagged with a warning in the web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840480"/>
            <a:ext cx="5715000" cy="242316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840480"/>
            <a:ext cx="5715000" cy="4572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6E"/>
                </a:solidFill>
              </a:rPr>
              <a:t>ESM-1v Coverage Only 44.1%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43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evolutionary fitness signal from ESM-1v is missing for
55.9% of training samples — cached for only 100 proteins.
→ Expanding the ESM-1v cache would improve coverage significantly.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Sequence 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B4A0"/>
                </a:solidFill>
              </a:rPr>
              <a:t>Ranked candidates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No crystal structure. No specialist software. No barrier to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This project shows that an ML pipeline combining sequence features, protein language
models (ESM-2, ESM-1v), AlphaFold structural data, and explicit biophysics (Debye-Hückel,
Born solvation, Hill equation) can reliably distinguish stabilising from destabilising
mutations in PET-degrading enzymes — and deliver those predictions in ~3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4069080"/>
            <a:ext cx="5029200" cy="5029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411480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A0"/>
                </a:solidFill>
              </a:rPr>
              <a:t>16,963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114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 wet-lab mutations
in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617720"/>
            <a:ext cx="5029200" cy="5029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6634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A0"/>
                </a:solidFill>
              </a:rPr>
              <a:t>144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6634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features per mutation
(sequence + structure + physics)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166360"/>
            <a:ext cx="5029200" cy="5029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52120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A0"/>
                </a:solidFill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12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independently tuned
base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5715000"/>
            <a:ext cx="5029200" cy="5029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57607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A0"/>
                </a:solidFill>
              </a:rPr>
              <a:t>79.54%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7607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CV classification
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6263640"/>
            <a:ext cx="5029200" cy="5029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630936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A0"/>
                </a:solidFill>
              </a:rPr>
              <a:t>~3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3093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 rank all mutations
for a new protein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577840" cy="269748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A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09728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Temperature 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8132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81C784"/>
                </a:solidFill>
              </a:rPr>
              <a:t>✓ 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73936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ΔTm regressor trained on 6,567 records — CV MAE 3.66 °C
•  Predicts melting temperature shift for every single mutation
•  Next: synthesise top 5 variants and measure Tm experimentally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05840"/>
            <a:ext cx="5577840" cy="269748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78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90D9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09728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 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148132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81C784"/>
                </a:solidFill>
              </a:rPr>
              <a:t>✓ 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73936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pH modelled as direct input feature across all 8 models
•  Hill equation correction applied post-inference for cutinase family
•  Next: collect data targeting industrial pH ranges (6–8.1)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577840" cy="269748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679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A0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88620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Ionic Strength / Ca²⁺ Concentrations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27024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81C784"/>
                </a:solidFill>
              </a:rPr>
              <a:t>✓  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62856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Debye-Hückel equation screens electrostatics by ionic strength
•  Ca²⁺ coordination cache covers 897 binding-site residue positions
•  Next: integrate AlphaFold2 3D coords for active-site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5577840" cy="2697480"/>
          </a:xfrm>
          <a:prstGeom prst="rect">
            <a:avLst/>
          </a:prstGeom>
          <a:solidFill>
            <a:srgbClr val="12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679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90D9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88620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Biophysics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4270248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81C784"/>
                </a:solidFill>
              </a:rPr>
              <a:t>✓  IMPLEMENTED  +  EXPANDING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62856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Debye-Hückel + Born solvation embedded as ~30 input features
•  ESM-2 language model + AlphaFold pLDDT at 92.9% coverage
•  Next: apply pipeline to PHA and polyurethane hydrolases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IE380 · Computational Biology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