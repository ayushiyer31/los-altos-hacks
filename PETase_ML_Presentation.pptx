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0D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1F5F9"/>
                </a:solidFill>
              </a:rPr>
              <a:t>PETase-ML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94A3B8"/>
                </a:solidFill>
              </a:rPr>
              <a:t>Engineering plastic-degrading enzymes
with machine learning.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389120"/>
            <a:ext cx="2606040" cy="411480"/>
          </a:xfrm>
          <a:prstGeom prst="rect">
            <a:avLst/>
          </a:prstGeom>
          <a:solidFill>
            <a:srgbClr val="0D254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1655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Machine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389120"/>
            <a:ext cx="2606040" cy="411480"/>
          </a:xfrm>
          <a:prstGeom prst="rect">
            <a:avLst/>
          </a:prstGeom>
          <a:solidFill>
            <a:srgbClr val="0D254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441655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Protein 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4389120"/>
            <a:ext cx="2606040" cy="411480"/>
          </a:xfrm>
          <a:prstGeom prst="rect">
            <a:avLst/>
          </a:prstGeom>
          <a:solidFill>
            <a:srgbClr val="0D254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41655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Bioremediation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Los Altos Hacks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828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</a:rPr>
              <a:t>Sequence 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423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Ranked Candidates 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1546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No crystal structure needed.
No software to install.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1F5F9"/>
                </a:solidFill>
              </a:rPr>
              <a:t>380 million tons of plastic per year.
Less than 10% is ever recycled.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5029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3200400" cy="1280160"/>
          </a:xfrm>
          <a:prstGeom prst="rect">
            <a:avLst/>
          </a:prstGeom>
          <a:solidFill>
            <a:srgbClr val="0D254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1F5F9"/>
                </a:solidFill>
              </a:rPr>
              <a:t>380M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358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metric tons of plastic produced annually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2286000"/>
            <a:ext cx="3200400" cy="1280160"/>
          </a:xfrm>
          <a:prstGeom prst="rect">
            <a:avLst/>
          </a:prstGeom>
          <a:solidFill>
            <a:srgbClr val="0D254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2377440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87171"/>
                </a:solidFill>
              </a:rPr>
              <a:t>~9%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30358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of plastic ever actually recycled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2286000"/>
            <a:ext cx="3200400" cy="1280160"/>
          </a:xfrm>
          <a:prstGeom prst="rect">
            <a:avLst/>
          </a:prstGeom>
          <a:solidFill>
            <a:srgbClr val="0D254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377440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BBF24"/>
                </a:solidFill>
              </a:rPr>
              <a:t>200 yrs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30358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how long PET persists in the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10515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</a:rPr>
              <a:t>PET plastic — bottles, food packaging, polyester fabric — does not break down. Mechanical recycling only downgrades the material. Enzymatic degradation breaks PET back to its original building blocks, which can be repolymerised into virgin-grade plastic.
That circular loop only works with an enzyme that can handle industrial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1F5F9"/>
                </a:solidFill>
              </a:rPr>
              <a:t>IsPETase can degrade plastic —
but falls apart above 40 °C.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5029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212080" cy="4709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</a:rPr>
              <a:t>In 2016, Yoshida et al. discovered Ideonella sakaiensis, a bacterium that lives on PET. Its enzyme — IsPETase — was the first enzyme found to degrade PET at room temperature.
The problem: IsPETase unfolds above ~40 °C. PET chains only become mobile enough for enzymatic attack above the glass transition temperature (~65–70 °C).
Every degree of thermal stability gained translates directly into faster degradation rates.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</a:rPr>
              <a:t>Temperature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2286000"/>
            <a:ext cx="1920240" cy="3200400"/>
          </a:xfrm>
          <a:prstGeom prst="rect">
            <a:avLst/>
          </a:prstGeom>
          <a:solidFill>
            <a:srgbClr val="3A1010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1089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7171"/>
                </a:solidFill>
              </a:rPr>
              <a:t>IsPETase
Stable Zone
20 – 40 °C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2286000"/>
            <a:ext cx="640080" cy="3200400"/>
          </a:xfrm>
          <a:prstGeom prst="rect">
            <a:avLst/>
          </a:prstGeom>
          <a:solidFill>
            <a:srgbClr val="1420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33832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</a:rPr>
              <a:t>⇕
GAP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2286000"/>
            <a:ext cx="2286000" cy="3200400"/>
          </a:xfrm>
          <a:prstGeom prst="rect">
            <a:avLst/>
          </a:prstGeom>
          <a:solidFill>
            <a:srgbClr val="0630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3108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PET
Reactive Zone
65 – 80 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</a:rPr>
              <a:t>← Close this gap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1F5F9"/>
                </a:solidFill>
              </a:rPr>
              <a:t>We built a sequence-only ML model
to predict which mutations help.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5029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212080" cy="4709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•  Train on 17,791 real experimental mutations from two curated databases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•  Predict ΔΔG (change in folding free energy) per mutation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•  Rank and combine mutations into multi-mutant candidates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•  Correct scores for real assay conditions: salt, pH, Ca²⁺, temperature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•  Serve results through a public web app — no software install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74519"/>
            <a:ext cx="5029200" cy="594360"/>
          </a:xfrm>
          <a:prstGeom prst="rect">
            <a:avLst/>
          </a:prstGeom>
          <a:solidFill>
            <a:srgbClr val="111F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2002535"/>
            <a:ext cx="47000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</a:rPr>
              <a:t>Protein Sequence (FASTA)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468879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743199"/>
            <a:ext cx="5029200" cy="594360"/>
          </a:xfrm>
          <a:prstGeom prst="rect">
            <a:avLst/>
          </a:prstGeom>
          <a:solidFill>
            <a:srgbClr val="111F3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871215"/>
            <a:ext cx="47000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</a:rPr>
              <a:t>76-Feature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337559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611879"/>
            <a:ext cx="5029200" cy="594360"/>
          </a:xfrm>
          <a:prstGeom prst="rect">
            <a:avLst/>
          </a:prstGeom>
          <a:solidFill>
            <a:srgbClr val="111F3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3739895"/>
            <a:ext cx="47000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</a:rPr>
              <a:t>6-Model 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206239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480559"/>
            <a:ext cx="5029200" cy="594360"/>
          </a:xfrm>
          <a:prstGeom prst="rect">
            <a:avLst/>
          </a:prstGeom>
          <a:solidFill>
            <a:srgbClr val="111F3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4608575"/>
            <a:ext cx="47000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</a:rPr>
              <a:t>Physics Corrections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5074919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5349239"/>
            <a:ext cx="5029200" cy="594360"/>
          </a:xfrm>
          <a:prstGeom prst="rect">
            <a:avLst/>
          </a:prstGeom>
          <a:solidFill>
            <a:srgbClr val="111F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5477255"/>
            <a:ext cx="47000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</a:rPr>
              <a:t>Ranked Mutation Candidates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TRAINING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1F5F9"/>
                </a:solidFill>
              </a:rPr>
              <a:t>Only real wet-lab experiments.
No synthetic or computationally generated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5029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212080" cy="4709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</a:rPr>
              <a:t>We made a deliberate choice: train only on measured ΔΔG values from wet-lab experiments. Using computationally predicted values would just teach the model to copy another model’s errors.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154680"/>
            <a:ext cx="5212080" cy="1188720"/>
          </a:xfrm>
          <a:prstGeom prst="rect">
            <a:avLst/>
          </a:prstGeom>
          <a:solidFill>
            <a:srgbClr val="111F38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82696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FIREPROTDB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611880"/>
            <a:ext cx="4809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3,438 mutations
Curated single-point substitutions with experimental ΔΔG and exact assay conditions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480560"/>
            <a:ext cx="5212080" cy="1097280"/>
          </a:xfrm>
          <a:prstGeom prst="rect">
            <a:avLst/>
          </a:prstGeom>
          <a:solidFill>
            <a:srgbClr val="111F38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608576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THERMOMUTDB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937760"/>
            <a:ext cx="4809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10,993 mutations across 249 protein families
Temperature and pH metadata per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Thermodynamic Augmentation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77440"/>
            <a:ext cx="1920240" cy="777240"/>
          </a:xfrm>
          <a:prstGeom prst="rect">
            <a:avLst/>
          </a:prstGeom>
          <a:solidFill>
            <a:srgbClr val="0D254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1F5F9"/>
                </a:solidFill>
              </a:rPr>
              <a:t>S121  (Wild-type)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2377440"/>
            <a:ext cx="1920240" cy="777240"/>
          </a:xfrm>
          <a:prstGeom prst="rect">
            <a:avLst/>
          </a:prstGeom>
          <a:solidFill>
            <a:srgbClr val="0D254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4688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1F5F9"/>
                </a:solidFill>
              </a:rPr>
              <a:t>E121  (Mutant)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774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S → E    ΔΔG = −1.2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7614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E → S    ΔΔG = +1.2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364992"/>
            <a:ext cx="4754880" cy="594360"/>
          </a:xfrm>
          <a:prstGeom prst="rect">
            <a:avLst/>
          </a:prstGeom>
          <a:solidFill>
            <a:srgbClr val="111F3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41985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ΔΔG(A→B) = −ΔΔG(B→A)   —   thermodynamic identity, not an approximation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206240"/>
            <a:ext cx="2103120" cy="1005840"/>
          </a:xfrm>
          <a:prstGeom prst="rect">
            <a:avLst/>
          </a:prstGeom>
          <a:solidFill>
            <a:srgbClr val="111F3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251960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1F5F9"/>
                </a:solidFill>
              </a:rPr>
              <a:t>8,905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365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original measurements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389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60" y="4206240"/>
            <a:ext cx="2103120" cy="1005840"/>
          </a:xfrm>
          <a:prstGeom prst="rect">
            <a:avLst/>
          </a:prstGeom>
          <a:solidFill>
            <a:srgbClr val="0D254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425196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17,791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4736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after augmentation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394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</a:rPr>
              <a:t>49.3% stabilising  ·  50.7% destabilising  —  near-perfect balance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1F5F9"/>
                </a:solidFill>
              </a:rPr>
              <a:t>Every mutation → a 76-number vector.
Computed from sequence alone. No crystal structure.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5029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212080" cy="4709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•  Physicochemical deltas (12) — hydrophobicity, volume, charge, helix/sheet propensity, BLOSUM62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•  Structural context (9) — estimated RSA, secondary structure fractions, local sequence window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•  Assay conditions (2) — temperature and pH from the experimental record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•  Extended biochemical (18) — MW, H-bonds, pKa shift, aliphatic index, disorder, Cys distance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•  Cross-terms (8) — physically motivated interaction features (e.g. ΔH × temperature)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Why Cross-Terms?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331720"/>
            <a:ext cx="2468880" cy="1600200"/>
          </a:xfrm>
          <a:prstGeom prst="rect">
            <a:avLst/>
          </a:prstGeom>
          <a:solidFill>
            <a:srgbClr val="0D1F3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2441448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ΔH ×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807208"/>
            <a:ext cx="2249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Hydrophobic burial stabilises more at high temperature (entropic effect)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34272" y="2331720"/>
            <a:ext cx="2468880" cy="1600200"/>
          </a:xfrm>
          <a:prstGeom prst="rect">
            <a:avLst/>
          </a:prstGeom>
          <a:solidFill>
            <a:srgbClr val="0D1F3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441448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ΔCharge × Burial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807208"/>
            <a:ext cx="2249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Charged residue buried in the core = huge destabilisation (desolvation penalty)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096512"/>
            <a:ext cx="2468880" cy="1600200"/>
          </a:xfrm>
          <a:prstGeom prst="rect">
            <a:avLst/>
          </a:prstGeom>
          <a:solidFill>
            <a:srgbClr val="0D1F35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420624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ΔH × Burial (RSA)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572000"/>
            <a:ext cx="2249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Core mutations have far more impact than surface mutations (packing depth)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34272" y="4096512"/>
            <a:ext cx="2468880" cy="1600200"/>
          </a:xfrm>
          <a:prstGeom prst="rect">
            <a:avLst/>
          </a:prstGeom>
          <a:solidFill>
            <a:srgbClr val="0D1F35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20624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Burial × ΔCharge(pH)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572000"/>
            <a:ext cx="2249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pH shifts ionisation state; burial amplifies the destabilisation effect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760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</a:rPr>
              <a:t>We compute these explicitly so the tree models don’t have to discover them from scratch.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1F5F9"/>
                </a:solidFill>
              </a:rPr>
              <a:t>Six independently tuned models.
Then a meta-classifier stacks them.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5029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212080" cy="4709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</a:rPr>
              <a:t>No single algorithm consistently wins on tabular biological data, so we train six models and combine them via stacking — then add a second layer that directly optimises classification accuracy.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17520"/>
            <a:ext cx="2926080" cy="384048"/>
          </a:xfrm>
          <a:prstGeom prst="rect">
            <a:avLst/>
          </a:prstGeom>
          <a:solidFill>
            <a:srgbClr val="0D254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81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3017520"/>
            <a:ext cx="2194560" cy="384048"/>
          </a:xfrm>
          <a:prstGeom prst="rect">
            <a:avLst/>
          </a:prstGeom>
          <a:solidFill>
            <a:srgbClr val="0D254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3081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10-fold CV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401568"/>
            <a:ext cx="2926080" cy="38404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655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GradientBoosting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40" y="3401568"/>
            <a:ext cx="2194560" cy="38404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34655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69.2%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85616"/>
            <a:ext cx="2926080" cy="38404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96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XGBoost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3785616"/>
            <a:ext cx="2194560" cy="38404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384962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70.4%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169664"/>
            <a:ext cx="2926080" cy="38404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336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LightGBM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4169664"/>
            <a:ext cx="2194560" cy="38404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42336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70.1%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553712"/>
            <a:ext cx="2926080" cy="38404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CatBoost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40" y="4553712"/>
            <a:ext cx="2194560" cy="38404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46177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70.5%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937760"/>
            <a:ext cx="2926080" cy="38404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0017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HistGBM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40" y="4937760"/>
            <a:ext cx="2194560" cy="38404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0" y="50017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69.9%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321808"/>
            <a:ext cx="2926080" cy="38404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858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MLP (neural net)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5321808"/>
            <a:ext cx="2194560" cy="38404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53858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66.9%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705856"/>
            <a:ext cx="2926080" cy="384048"/>
          </a:xfrm>
          <a:prstGeom prst="rect">
            <a:avLst/>
          </a:prstGeom>
          <a:solidFill>
            <a:srgbClr val="0D254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7698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→ Wide-Stack Ensemble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40" y="5705856"/>
            <a:ext cx="2194560" cy="384048"/>
          </a:xfrm>
          <a:prstGeom prst="rect">
            <a:avLst/>
          </a:prstGeom>
          <a:solidFill>
            <a:srgbClr val="0D2548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0" y="5769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71.5%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309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Hyperparameters tuned with 50-trial Optuna Bayesian search.
Final training uses all 17,791 examples.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Wide-Stack Architecture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377440"/>
            <a:ext cx="2331720" cy="1417320"/>
          </a:xfrm>
          <a:prstGeom prst="rect">
            <a:avLst/>
          </a:prstGeom>
          <a:solidFill>
            <a:srgbClr val="0D1F3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24231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</a:rPr>
              <a:t>6 Regressors
GBM · XGB · LGBM
CatBoost · HGB · MLP
→ 6 OOF ΔΔG values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2377440"/>
            <a:ext cx="2331720" cy="1417320"/>
          </a:xfrm>
          <a:prstGeom prst="rect">
            <a:avLst/>
          </a:prstGeom>
          <a:solidFill>
            <a:srgbClr val="0D1F3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24231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</a:rPr>
              <a:t>3 Direct Classifiers
XGBClf · LGBMClf
CatBoostClf
→ 3 OOF probabilities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886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⇩  combine 9 features  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4251960"/>
            <a:ext cx="3977639" cy="685800"/>
          </a:xfrm>
          <a:prstGeom prst="rect">
            <a:avLst/>
          </a:prstGeom>
          <a:solidFill>
            <a:srgbClr val="0D2548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6679" y="4315968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BBF24"/>
                </a:solidFill>
              </a:rPr>
              <a:t>CatBoost Meta-Classifier  (5-fold CV)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983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BBF24"/>
                </a:solidFill>
              </a:rPr>
              <a:t>⇩  threshold sweep [0.30 – 0.70]  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0" y="5376672"/>
            <a:ext cx="3566160" cy="594360"/>
          </a:xfrm>
          <a:prstGeom prst="rect">
            <a:avLst/>
          </a:prstGeom>
          <a:solidFill>
            <a:srgbClr val="06302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79" y="54223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71.49% CV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1F5F9"/>
                </a:solidFill>
              </a:rPr>
              <a:t>What the model actually learned.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5029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3474720" cy="1280160"/>
          </a:xfrm>
          <a:prstGeom prst="rect">
            <a:avLst/>
          </a:prstGeom>
          <a:solidFill>
            <a:srgbClr val="0D254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</a:rPr>
              <a:t>71.5%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614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binary accuracy
(stabilising vs. destabilising)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20440"/>
            <a:ext cx="3474720" cy="1280160"/>
          </a:xfrm>
          <a:prstGeom prst="rect">
            <a:avLst/>
          </a:prstGeom>
          <a:solidFill>
            <a:srgbClr val="0D254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61188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B82F6"/>
                </a:solidFill>
              </a:rPr>
              <a:t>r = 0.636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702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Pearson correlation
predicted vs. measured ΔΔG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029200"/>
            <a:ext cx="3474720" cy="1280160"/>
          </a:xfrm>
          <a:prstGeom prst="rect">
            <a:avLst/>
          </a:prstGeom>
          <a:solidFill>
            <a:srgbClr val="0D254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12064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BBF24"/>
                </a:solidFill>
              </a:rPr>
              <a:t>66.1%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77900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LOPO accuracy
(completely unseen protein families)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82880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Top Feature Importances  (ensemble average)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28600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temperature_C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22576"/>
            <a:ext cx="5303520" cy="228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59184" y="228600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763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63347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pH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670048"/>
            <a:ext cx="5094993" cy="228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50657" y="263347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733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98094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dH × temp  (cross-term)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017520"/>
            <a:ext cx="4531972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87636" y="298094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652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32841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rel_position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364992"/>
            <a:ext cx="3670063" cy="228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25727" y="332841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528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6758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RSA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712464"/>
            <a:ext cx="3461537" cy="228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17201" y="367588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498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02336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nearest_cys_dist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059936"/>
            <a:ext cx="3072288" cy="228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27952" y="402336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442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37083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delta_ionization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407408"/>
            <a:ext cx="2981926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37590" y="437083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429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7183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dAliphatic × temp (cross-term)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754880"/>
            <a:ext cx="269694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52604" y="471830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388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506577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burial × dCharge(pH)  (cross-term)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102352"/>
            <a:ext cx="2502316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7980" y="506577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360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541324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coil_prop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449824"/>
            <a:ext cx="2432807" cy="228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88471" y="541324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350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5897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</a:rPr>
              <a:t>■  Condition / structural features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6172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■  Cross-term features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649224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Temperature and pH rank #1 and #2 — confirming that including assay conditions was the right call.
Cross-terms appear 4× in the top 10, validating the approach of computing interactions explicitly.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PHYSICS CORRECTIONS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1F5F9"/>
                </a:solidFill>
              </a:rPr>
              <a:t>Temperature and pH are in the training data.
Salt and calcium are not — so we add explicit physics.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5029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5212080" cy="1828800"/>
          </a:xfrm>
          <a:prstGeom prst="rect">
            <a:avLst/>
          </a:prstGeom>
          <a:solidFill>
            <a:srgbClr val="111F38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02535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DEBYE-HÜCKEL CORRECTION  (IONIC STRENGTH)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19"/>
            <a:ext cx="4809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Salt ions screen charge–charge interactions on the protein surface. At 500 mM NaCl vs. 50 mM, a surface charge mutation matters less because counterions partially cancel it out. We apply a screening correction only to surface-exposed charged residues (RSA &gt; 0.25), capped at ±0.15 kcal/mol.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5212080" cy="2011680"/>
          </a:xfrm>
          <a:prstGeom prst="rect">
            <a:avLst/>
          </a:prstGeom>
          <a:solidFill>
            <a:srgbClr val="111F38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059936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CA²⁺ HILL EQUATION  (CUTINASE FAMILY)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389120"/>
            <a:ext cx="48097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LCC, TfCut2, and Cut190 all have a conserved Ca²⁺ binding site. Mutations to chelating residues (Asp/Glu) alter Ca²⁺ affinity and therefore stability. We model this with a one-site Hill equation:
f = [Ca²⁺] / (Kᵈ + [Ca²⁺]),  Kᵈ = 0.5 mM,  ΔΔGₘₐₓ = 2.0 kcal/mol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Ionic Strength Screening Effect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331720"/>
            <a:ext cx="1737360" cy="3200400"/>
          </a:xfrm>
          <a:prstGeom prst="rect">
            <a:avLst/>
          </a:prstGeom>
          <a:solidFill>
            <a:srgbClr val="111F38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50 mM
(lab buffer)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23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</a:rPr>
              <a:t>Charge
effect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4069080"/>
            <a:ext cx="1737360" cy="1463040"/>
          </a:xfrm>
          <a:prstGeom prst="rect">
            <a:avLst/>
          </a:prstGeom>
          <a:solidFill>
            <a:srgbClr val="111F38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1031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500 mM
(industrial)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1605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BBF24"/>
                </a:solidFill>
              </a:rPr>
              <a:t>Charge
effect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394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</a:rPr>
              <a:t>↕ ~0.1 kcal/mol difference
between low-salt and high-salt scoring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WEB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1F5F9"/>
                </a:solidFill>
              </a:rPr>
              <a:t>Paste a sequence.
Get ranked mutation candidates in ~3 seconds.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5029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212080" cy="4709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•  Condition sliders — temperature, pH, ionic strength, Ca²⁺ concentration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•  Ranked candidate table — ΔΔG score, predicted ΔTm, activity score, literature support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•  3D molecular viewer — IsPETase with mutation sites highlighted and an animated guided tour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•  Literature cross-reference — auto-checks against FAST-PETase, LCC-ICCG, published variants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•  Explainability panel — feature attribution for every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66360"/>
            <a:ext cx="5212080" cy="914400"/>
          </a:xfrm>
          <a:prstGeom prst="rect">
            <a:avLst/>
          </a:prstGeom>
          <a:solidFill>
            <a:srgbClr val="0A122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2120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POST /optimize
{"sequence": "MSGGSSGLPAL...", "target_temperature": 70.0, "ph": 8.0}
→ ranked candidates in ~3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System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331720"/>
            <a:ext cx="5303520" cy="777240"/>
          </a:xfrm>
          <a:prstGeom prst="rect">
            <a:avLst/>
          </a:prstGeom>
          <a:solidFill>
            <a:srgbClr val="111F38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3957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React Front-End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5234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Sequence input  ·  Condition sliders  ·  3Dmol.js viewer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291840"/>
            <a:ext cx="5303520" cy="777240"/>
          </a:xfrm>
          <a:prstGeom prst="rect">
            <a:avLst/>
          </a:prstGeom>
          <a:solidFill>
            <a:srgbClr val="111F38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3558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FastAPI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1246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/optimize  ·  /explain  ·  /literature  ·  /classifier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343400"/>
            <a:ext cx="1691640" cy="960120"/>
          </a:xfrm>
          <a:prstGeom prst="rect">
            <a:avLst/>
          </a:prstGeom>
          <a:solidFill>
            <a:srgbClr val="111F3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389120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Ensemble
6 regressors + meta-clf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2168" y="4343400"/>
            <a:ext cx="1691640" cy="960120"/>
          </a:xfrm>
          <a:prstGeom prst="rect">
            <a:avLst/>
          </a:prstGeom>
          <a:solidFill>
            <a:srgbClr val="111F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4389120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ΔTm Model
MAE = 4.6 °C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03536" y="4343400"/>
            <a:ext cx="1691640" cy="960120"/>
          </a:xfrm>
          <a:prstGeom prst="rect">
            <a:avLst/>
          </a:prstGeom>
          <a:solidFill>
            <a:srgbClr val="111F3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94976" y="4389120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Literature DB
FAST-PETase, LCC-ICCG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440680"/>
            <a:ext cx="5303520" cy="685800"/>
          </a:xfrm>
          <a:prstGeom prst="rect">
            <a:avLst/>
          </a:prstGeom>
          <a:solidFill>
            <a:srgbClr val="111F3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4864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</a:rPr>
              <a:t>3Dmol.js  —  IsPETase (PDB: 5XJH)  ·  Geometry baked once → pure camera moves = 60 fps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HONEST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1F5F9"/>
                </a:solidFill>
              </a:rPr>
              <a:t>What 71.5% accuracy means —
and what could get us to 80%.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5029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</a:rPr>
              <a:t>Current limitations: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52120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>
                <a:solidFill>
                  <a:srgbClr val="CBD5E1"/>
                </a:solidFill>
              </a:rPr>
              <a:t>•  No structural features — FoldX/Rosetta use explicit 3D contacts; our RSA is sequence-estimated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CBD5E1"/>
                </a:solidFill>
              </a:rPr>
              <a:t>•  No PSSM profiles — evolutionary conservation adds ~2–4% but takes minutes per protein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CBD5E1"/>
                </a:solidFill>
              </a:rPr>
              <a:t>•  Additivity assumption — ΔΔG values are summed for multi-mutants, which breaks down for nearby residues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CBD5E1"/>
                </a:solidFill>
              </a:rPr>
              <a:t>•  LOPO gap — 66.1% on unseen protein families vs. 71.5% overall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</a:rPr>
              <a:t>Path to 80%: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331720"/>
            <a:ext cx="5303520" cy="1097280"/>
          </a:xfrm>
          <a:prstGeom prst="rect">
            <a:avLst/>
          </a:prstGeom>
          <a:solidFill>
            <a:srgbClr val="111F38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245973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ALPHAFOLD2 PREDICTED RSA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788920"/>
            <a:ext cx="4901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Replace sequence-estimated RSA with AlphaFold2 predicted structures.
Estimated gain: +3–4% accuracy.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566160"/>
            <a:ext cx="5303520" cy="1097280"/>
          </a:xfrm>
          <a:prstGeom prst="rect">
            <a:avLst/>
          </a:prstGeom>
          <a:solidFill>
            <a:srgbClr val="111F38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369417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PSSM CONSERVATION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4023360"/>
            <a:ext cx="4901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Pre-computed BLAST profiles for common enzyme families.
Estimated gain: +2–3%. Already partially implemented.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800600"/>
            <a:ext cx="5303520" cy="1097280"/>
          </a:xfrm>
          <a:prstGeom prst="rect">
            <a:avLst/>
          </a:prstGeom>
          <a:solidFill>
            <a:srgbClr val="111F38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4928616"/>
            <a:ext cx="4901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PRODDG / S2648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5257800"/>
            <a:ext cx="4901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The S2648 dataset was not used in our current model. Adding it would provide ~2,600 more training examples across new protein families.
Estimated gain: +1–2%.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1F5F9"/>
                </a:solidFill>
              </a:rPr>
              <a:t>Sequence in.  Ranked candidates out.
No crystal structure. No software to install.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5029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212080" cy="4709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</a:rPr>
              <a:t>We built a complete ML pipeline for protein stability prediction — data curation, physics-informed features, stacking ensemble, physics corrections, and a public web app — all from sequence alone.
71.5% binary accuracy and r = 0.636 Pearson correlation are competitive with published sequence-only ΔΔG predictors. More importantly, the system is practical: cut 10,000 possible single-point mutations down to 50 high-confidence candidates for wet-lab validation.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920240"/>
            <a:ext cx="5029200" cy="1280160"/>
          </a:xfrm>
          <a:prstGeom prst="rect">
            <a:avLst/>
          </a:prstGeom>
          <a:solidFill>
            <a:srgbClr val="0D2548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011680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1F5F9"/>
                </a:solidFill>
              </a:rPr>
              <a:t>17,791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6700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real experimental mutations in training 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291840"/>
            <a:ext cx="5029200" cy="1280160"/>
          </a:xfrm>
          <a:prstGeom prst="rect">
            <a:avLst/>
          </a:prstGeom>
          <a:solidFill>
            <a:srgbClr val="0D254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3383280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</a:rPr>
              <a:t>71.5%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0416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binary classification accuracy (stacking CV)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663440"/>
            <a:ext cx="5029200" cy="1280160"/>
          </a:xfrm>
          <a:prstGeom prst="rect">
            <a:avLst/>
          </a:prstGeom>
          <a:solidFill>
            <a:srgbClr val="0D254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754880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B82F6"/>
                </a:solidFill>
              </a:rPr>
              <a:t>~3 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54132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to rank all candidates for a new protein sequence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ACKNOWLEDGMENTS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1F5F9"/>
                </a:solidFill>
              </a:rPr>
              <a:t>Thank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5029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</a:rPr>
              <a:t>Databases that made this work possible: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>
                <a:solidFill>
                  <a:srgbClr val="CBD5E1"/>
                </a:solidFill>
              </a:rPr>
              <a:t>•  FireProtDB — Stourac et al., curated experimental thermostability data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CBD5E1"/>
                </a:solidFill>
              </a:rPr>
              <a:t>•  ThermoMutDB — Pucci et al. (2021), Nucleic Acids Research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CBD5E1"/>
                </a:solidFill>
              </a:rPr>
              <a:t>•  RCSB Protein Data Bank — Berman et al. (2000)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CBD5E1"/>
                </a:solidFill>
              </a:rPr>
              <a:t>•  3Dmol.js — 3D structure visualisation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</a:rPr>
              <a:t>Key prior work: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5212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>
                <a:solidFill>
                  <a:srgbClr val="CBD5E1"/>
                </a:solidFill>
              </a:rPr>
              <a:t>•  Lu et al. (2022) — FAST-PETase, Nature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CBD5E1"/>
                </a:solidFill>
              </a:rPr>
              <a:t>•  Tournier et al. (2020) — LCC-ICCG, Nature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CBD5E1"/>
                </a:solidFill>
              </a:rPr>
              <a:t>•  Yoshida et al. (2016) — IsPETase discovery,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0B981"/>
                </a:solidFill>
              </a:rP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PETase-ML  ·  Los Altos Hacks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